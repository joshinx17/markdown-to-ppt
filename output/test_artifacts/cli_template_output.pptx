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1535"/>
                </a:solidFill>
                <a:latin typeface="Segoe UI"/>
              </a:rPr>
              <a:t>Market Size (USD Billion)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</c:v>
                </c:pt>
                <c:pt idx="1">
                  <c:v>119.4</c:v>
                </c:pt>
                <c:pt idx="2">
                  <c:v>164.0</c:v>
                </c:pt>
                <c:pt idx="3">
                  <c:v>233.0</c:v>
                </c:pt>
                <c:pt idx="4">
                  <c:v>315.0</c:v>
                </c:pt>
                <c:pt idx="5">
                  <c:v>420.0</c:v>
                </c:pt>
                <c:pt idx="6">
                  <c:v>500.0</c:v>
                </c:pt>
              </c:numCache>
            </c:numRef>
          </c:val>
          <c:smooth val="0"/>
          <c:spPr>
            <a:solidFill>
              <a:srgbClr/>
            </a:solidFill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tradeoffs across the columns instead of reading each row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The Future of Artificial Intelligence in Enterprise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Executive Summary Artificial intelligence is no longer a futuristic concept — it is actively reshaping how en…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- Executive Summary</a:t>
            </a:r>
          </a:p>
          <a:p>
            <a:r>
              <a:t>- Market Overview</a:t>
            </a:r>
          </a:p>
          <a:p>
            <a:r>
              <a:t>- Key Growth Drivers</a:t>
            </a:r>
          </a:p>
          <a:p>
            <a:r>
              <a:t>- Strategic Framework: AI Maturity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- Scale of Opportunity: The document highlights quantified momentum including 2027, 500 billion, 38.</a:t>
            </a:r>
          </a:p>
          <a:p>
            <a:r>
              <a:t>- Executive Summary: Artificial intelligence is no longer a futuristic concept — it is actively reshaping how enterprises operate, compete,…</a:t>
            </a:r>
          </a:p>
          <a:p>
            <a:r>
              <a:t>- Market Overview: The North American market leads with a 38% share, followed by Asia-Pacific at 29% and Europe at 24%. Emerging markets c…</a:t>
            </a:r>
          </a:p>
          <a:p>
            <a:r>
              <a:t>- Key Growth Drivers: The emergence of large language models (LLMs) in 2022-2024 created an inflection point for enterprise AI. Key developme…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Market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16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38098"/>
                </a:solidFill>
                <a:latin typeface="Segoe UI"/>
              </a:rPr>
              <a:t>Derived directly from the source table to emphasize trajectory rather than raw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Key Growth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485900" y="2971800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529840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Generative AI Revoluti…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1. Generative AI Revolution</a:t>
            </a:r>
          </a:p>
        </p:txBody>
      </p:sp>
      <p:sp>
        <p:nvSpPr>
          <p:cNvPr id="6" name="Can 5"/>
          <p:cNvSpPr/>
          <p:nvPr/>
        </p:nvSpPr>
        <p:spPr>
          <a:xfrm>
            <a:off x="29718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43400" y="2971800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700" y="3200400"/>
            <a:ext cx="2529840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Cloud Infrastructure M…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2. Cloud Infrastructure Maturity</a:t>
            </a:r>
          </a:p>
        </p:txBody>
      </p:sp>
      <p:sp>
        <p:nvSpPr>
          <p:cNvPr id="9" name="Can 8"/>
          <p:cNvSpPr/>
          <p:nvPr/>
        </p:nvSpPr>
        <p:spPr>
          <a:xfrm>
            <a:off x="58293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00900" y="297180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2529840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Workforce Augmentation…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3. Workforce Augmentation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Strategic Framework: AI Maturity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143000" y="2971800"/>
            <a:ext cx="384048" cy="384048"/>
          </a:xfrm>
          <a:prstGeom prst="ellipse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817370" cy="146304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1: Experimentation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1: Experimentation</a:t>
            </a:r>
          </a:p>
        </p:txBody>
      </p:sp>
      <p:sp>
        <p:nvSpPr>
          <p:cNvPr id="6" name="Can 5"/>
          <p:cNvSpPr/>
          <p:nvPr/>
        </p:nvSpPr>
        <p:spPr>
          <a:xfrm>
            <a:off x="22860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14700" y="2971800"/>
            <a:ext cx="384048" cy="384048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8900" y="3200400"/>
            <a:ext cx="1817370" cy="146304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2: Deployment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2: Deployment</a:t>
            </a:r>
          </a:p>
        </p:txBody>
      </p:sp>
      <p:sp>
        <p:nvSpPr>
          <p:cNvPr id="9" name="Can 8"/>
          <p:cNvSpPr/>
          <p:nvPr/>
        </p:nvSpPr>
        <p:spPr>
          <a:xfrm>
            <a:off x="44577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297180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6300" y="3200400"/>
            <a:ext cx="1817370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3: Integration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3: Integration</a:t>
            </a:r>
          </a:p>
        </p:txBody>
      </p:sp>
      <p:sp>
        <p:nvSpPr>
          <p:cNvPr id="12" name="Can 11"/>
          <p:cNvSpPr/>
          <p:nvPr/>
        </p:nvSpPr>
        <p:spPr>
          <a:xfrm>
            <a:off x="6629400" y="3886200"/>
            <a:ext cx="246888" cy="237744"/>
          </a:xfrm>
          <a:prstGeom prst="can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43800" y="297180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200400"/>
            <a:ext cx="1817370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4: Transformation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Segoe UI"/>
              </a:rPr>
              <a:t>Stage 4: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Challenges and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651760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Data Quality and Govern…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Data Quality and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00200"/>
            <a:ext cx="2651760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Talent and Skills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Talent and Skills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7900" y="1600200"/>
            <a:ext cx="265176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Integration Complexity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79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Integration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Comparing AI Deployment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Comparing AI 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651760" cy="502920"/>
          </a:xfrm>
          <a:prstGeom prst="roundRect">
            <a:avLst/>
          </a:prstGeom>
          <a:solidFill>
            <a:srgbClr val="009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0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12-24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High ($2-10M)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Full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00200"/>
            <a:ext cx="2651760" cy="502920"/>
          </a:xfrm>
          <a:prstGeom prst="round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Buy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0D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1-3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Low ($50-500K)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Limited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7900" y="1600200"/>
            <a:ext cx="265176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7900" y="2171700"/>
            <a:ext cx="2651760" cy="3949891"/>
          </a:xfrm>
          <a:prstGeom prst="roundRect">
            <a:avLst/>
          </a:prstGeom>
          <a:solidFill>
            <a:srgbClr val="ECF6F7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Segoe UI"/>
              </a:rPr>
              <a:t>▶  Time to Deploy: 3-6 months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Total Cost: Medium ($200K-2M)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Customization: Moderate</a:t>
            </a:r>
          </a:p>
          <a:p>
            <a:r>
              <a:rPr sz="1200">
                <a:solidFill>
                  <a:srgbClr val="37456A"/>
                </a:solidFill>
                <a:latin typeface="Segoe UI"/>
              </a:rPr>
              <a:t>▶  IP Ownership: Shared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- Executive Summary: Artificial intelligence is no longer a futuristic concept — it is actively reshaping how enterprise…</a:t>
            </a:r>
          </a:p>
          <a:p>
            <a:r>
              <a:t>- Market Overview: The North American market leads with a 38% share, followed by Asia-Pacific at 29% and Europe at 24%…</a:t>
            </a:r>
          </a:p>
          <a:p>
            <a:r>
              <a:t>- Key Growth Drivers: The emergence of large language models (LLMs) in 2022-2024 created an inflection point for enterpri…</a:t>
            </a:r>
          </a:p>
          <a:p>
            <a:r>
              <a:t>- Strategic Framework: AI Maturity Model: Organizations progress through four distinct stages of AI maturity: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