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1535"/>
                </a:solidFill>
                <a:latin typeface="Segoe UI"/>
              </a:rPr>
              <a:t>Market Size (USD Billion)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87.0</c:v>
                </c:pt>
                <c:pt idx="1">
                  <c:v>119.4</c:v>
                </c:pt>
                <c:pt idx="2">
                  <c:v>164.0</c:v>
                </c:pt>
                <c:pt idx="3">
                  <c:v>233.0</c:v>
                </c:pt>
                <c:pt idx="4">
                  <c:v>315.0</c:v>
                </c:pt>
                <c:pt idx="5">
                  <c:v>420.0</c:v>
                </c:pt>
                <c:pt idx="6">
                  <c:v>500.0</c:v>
                </c:pt>
              </c:numCache>
            </c:numRef>
          </c:val>
          <c:smooth val="0"/>
          <c:spPr>
            <a:solidFill>
              <a:srgbClr/>
            </a:solidFill>
          </c:spP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message and frame the business question this deck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the narrative arc so the audience understands how the story will unfold.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cards to cover the strongest signals, then transition into the evidence behind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so the audience sees the sequence rather than reading a dense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so the audience sees the sequence rather than reading a dense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tradeoffs across the columns instead of reading each row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decisions or actions the audience should take away from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114300"/>
            <a:ext cx="115443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114300"/>
            <a:ext cx="115443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2 / 11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37160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1485900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Executive 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5740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057400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Market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62890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2743200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Key Growth Drivers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31470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314700"/>
            <a:ext cx="1049091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F1535"/>
                </a:solidFill>
                <a:latin typeface="Segoe UI"/>
              </a:rPr>
              <a:t>Strategic Framework: AI Maturity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114300"/>
            <a:ext cx="115443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594506" cy="292608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57400" y="1714500"/>
            <a:ext cx="475488" cy="475488"/>
          </a:xfrm>
          <a:prstGeom prst="ellipse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286000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Scale of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743200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The document highlights quantified momentum including 2027, 500 billion, 38.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3594506" cy="292608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29300" y="1714500"/>
            <a:ext cx="475488" cy="475488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7700" y="2286000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Executive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0" y="2743200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Artificial intelligence is no longer a futuristic concept — it is actively reshaping how enterprises operate, compete,…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5300" y="1371600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5300" y="1371600"/>
            <a:ext cx="3594506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0" y="1714500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86000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Market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43200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The North American market leads with a 38% share, followed by Asia-Pacific at 29% and Europe at 24%. Emerging markets c…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86200"/>
            <a:ext cx="3594506" cy="2368296"/>
          </a:xfrm>
          <a:prstGeom prst="roundRect">
            <a:avLst/>
          </a:prstGeom>
          <a:solidFill>
            <a:srgbClr val="ECF6F7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3594506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57400" y="4343400"/>
            <a:ext cx="475488" cy="47548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4914900"/>
            <a:ext cx="33750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Segoe UI"/>
              </a:rPr>
              <a:t>Key Growth Drivers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5257800"/>
            <a:ext cx="3375050" cy="9326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Segoe UI"/>
              </a:rPr>
              <a:t>The emergence of large language models (LLMs) in 2022-2024 created an inflection point for enterprise AI. Key developme…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114300"/>
            <a:ext cx="115443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114300"/>
            <a:ext cx="115443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5 / 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463040"/>
          <a:ext cx="10820095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989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738098"/>
                </a:solidFill>
                <a:latin typeface="Segoe UI"/>
              </a:rPr>
              <a:t>Derived directly from the source table to emphasize trajectory rather than raw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114300"/>
            <a:ext cx="115443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Key Growth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6 / 11</a:t>
            </a:r>
          </a:p>
        </p:txBody>
      </p:sp>
      <p:sp>
        <p:nvSpPr>
          <p:cNvPr id="8" name="Oval 7"/>
          <p:cNvSpPr/>
          <p:nvPr/>
        </p:nvSpPr>
        <p:spPr>
          <a:xfrm>
            <a:off x="2057400" y="2971800"/>
            <a:ext cx="384048" cy="384048"/>
          </a:xfrm>
          <a:prstGeom prst="ellipse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14700"/>
            <a:ext cx="3515258" cy="146304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1. Generative AI Revoluti…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1. Generative AI Revolution</a:t>
            </a:r>
          </a:p>
        </p:txBody>
      </p:sp>
      <p:sp>
        <p:nvSpPr>
          <p:cNvPr id="10" name="Can 9"/>
          <p:cNvSpPr/>
          <p:nvPr/>
        </p:nvSpPr>
        <p:spPr>
          <a:xfrm>
            <a:off x="4000500" y="3886200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0" y="2971800"/>
            <a:ext cx="384048" cy="384048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314700"/>
            <a:ext cx="3515258" cy="146304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2. Cloud Infrastructure M…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2. Cloud Infrastructure Maturity</a:t>
            </a:r>
          </a:p>
        </p:txBody>
      </p:sp>
      <p:sp>
        <p:nvSpPr>
          <p:cNvPr id="13" name="Can 12"/>
          <p:cNvSpPr/>
          <p:nvPr/>
        </p:nvSpPr>
        <p:spPr>
          <a:xfrm>
            <a:off x="7886700" y="3886200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15500" y="2971800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314700"/>
            <a:ext cx="3515258" cy="1463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3. Workforce Augmentation…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3. Workforce Augmentation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114300"/>
            <a:ext cx="115443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Strategic Framework: AI Maturity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7 / 11</a:t>
            </a:r>
          </a:p>
        </p:txBody>
      </p:sp>
      <p:sp>
        <p:nvSpPr>
          <p:cNvPr id="8" name="Oval 7"/>
          <p:cNvSpPr/>
          <p:nvPr/>
        </p:nvSpPr>
        <p:spPr>
          <a:xfrm>
            <a:off x="1600200" y="2971800"/>
            <a:ext cx="384048" cy="384048"/>
          </a:xfrm>
          <a:prstGeom prst="ellipse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14700"/>
            <a:ext cx="2556433" cy="146304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1: Experimentation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1: Experimentation</a:t>
            </a:r>
          </a:p>
        </p:txBody>
      </p:sp>
      <p:sp>
        <p:nvSpPr>
          <p:cNvPr id="10" name="Can 9"/>
          <p:cNvSpPr/>
          <p:nvPr/>
        </p:nvSpPr>
        <p:spPr>
          <a:xfrm>
            <a:off x="3086100" y="3886200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57700" y="2971800"/>
            <a:ext cx="384048" cy="384048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314700"/>
            <a:ext cx="2556433" cy="146304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2: Deployment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2: Deployment</a:t>
            </a:r>
          </a:p>
        </p:txBody>
      </p:sp>
      <p:sp>
        <p:nvSpPr>
          <p:cNvPr id="13" name="Can 12"/>
          <p:cNvSpPr/>
          <p:nvPr/>
        </p:nvSpPr>
        <p:spPr>
          <a:xfrm>
            <a:off x="5943600" y="3886200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0" y="2971800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0" y="3314700"/>
            <a:ext cx="2556433" cy="1463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3: Integration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3: Integration</a:t>
            </a:r>
          </a:p>
        </p:txBody>
      </p:sp>
      <p:sp>
        <p:nvSpPr>
          <p:cNvPr id="16" name="Can 15"/>
          <p:cNvSpPr/>
          <p:nvPr/>
        </p:nvSpPr>
        <p:spPr>
          <a:xfrm>
            <a:off x="8801100" y="3886200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72700" y="2971800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314700"/>
            <a:ext cx="2556433" cy="1463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4: Transformation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4: Transformation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114300"/>
            <a:ext cx="115443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Challenges and Barriers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37178" cy="50292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Data Quality and Govern…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43100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Data Quality and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9100" y="1371600"/>
            <a:ext cx="3637178" cy="50292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Talent and Skills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9100" y="1943100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Talent and Skills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71600"/>
            <a:ext cx="3637178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Integration Complexity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43100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Integration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114300"/>
            <a:ext cx="115443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Comparing AI Deployment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114300"/>
            <a:ext cx="115443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Comparing AI Deployment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37178" cy="50292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43100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Time to Deploy: 12-24 months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Total Cost: High ($2-10M)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Customization: Full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IP Ownership: 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9100" y="1371600"/>
            <a:ext cx="3637178" cy="50292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9100" y="1943100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Time to Deploy: 1-3 months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Total Cost: Low ($50-500K)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Customization: Limited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IP Ownership: 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71600"/>
            <a:ext cx="3637178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Partner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43100"/>
            <a:ext cx="3637178" cy="4361688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Time to Deploy: 3-6 months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Total Cost: Medium ($200K-2M)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Customization: Moderate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IP Ownership: Shared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11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" y="114300"/>
            <a:ext cx="115443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6492240"/>
            <a:ext cx="853418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Segoe UI"/>
              </a:rPr>
              <a:t>The Future of Artificial Intelligence in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7100" y="6492240"/>
            <a:ext cx="1005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Segoe U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