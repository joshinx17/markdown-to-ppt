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A1A2E"/>
                </a:solidFill>
                <a:latin typeface="Calibri"/>
              </a:rPr>
              <a:t>Market Size (USD Billion)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  <c:pt idx="6">
                  <c:v>2027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87.0</c:v>
                </c:pt>
                <c:pt idx="1">
                  <c:v>119.4</c:v>
                </c:pt>
                <c:pt idx="2">
                  <c:v>164.0</c:v>
                </c:pt>
                <c:pt idx="3">
                  <c:v>233.0</c:v>
                </c:pt>
                <c:pt idx="4">
                  <c:v>315.0</c:v>
                </c:pt>
                <c:pt idx="5">
                  <c:v>420.0</c:v>
                </c:pt>
                <c:pt idx="6">
                  <c:v>500.0</c:v>
                </c:pt>
              </c:numCache>
            </c:numRef>
          </c:val>
          <c:smooth val="0"/>
          <c:spPr>
            <a:solidFill>
              <a:srgbClr/>
            </a:solidFill>
          </c:spP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headline message and frame the business question this deck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the narrative arc so the audience understands how the story will unfold.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cards to cover the strongest signals, then transition into the evidence behind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 here to signal a shift in the story before moving into the next cluster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headline trend, then explain the two or three datapoints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so the audience sees the sequence rather than reading a dense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 so the audience sees the sequence rather than reading a dense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tradeoffs across the columns instead of reading each row verbatim.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briefly here to signal a shift in the story before moving into the next cluster of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headline trend, then explain the two or three datapoints that matter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decisions or actions the audience should take away from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91295" y="3657600"/>
            <a:ext cx="3200400" cy="3200400"/>
          </a:xfrm>
          <a:prstGeom prst="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62895" y="5029200"/>
            <a:ext cx="1828800" cy="1828800"/>
          </a:xfrm>
          <a:prstGeom prst="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4114800"/>
            <a:ext cx="4114800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FFD060"/>
                </a:solidFill>
                <a:latin typeface="Calibri"/>
              </a:rPr>
              <a:t>Executive Summary Artificial intelligence is no longer a futuristic concept — it is actively reshaping how en…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2 / 11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325880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1371600"/>
            <a:ext cx="1058235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Executive Summary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947672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1993392"/>
            <a:ext cx="1058235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Market Overview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569464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615184"/>
            <a:ext cx="1058235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Key Growth Drivers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191256"/>
            <a:ext cx="420624" cy="420624"/>
          </a:xfrm>
          <a:prstGeom prst="ellipse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236976"/>
            <a:ext cx="10582351" cy="37490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Strategic Framework: AI Maturity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1E4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24986" cy="292608"/>
          </a:xfrm>
          <a:prstGeom prst="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31949" y="1645920"/>
            <a:ext cx="475488" cy="475488"/>
          </a:xfrm>
          <a:prstGeom prst="ellipse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12848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Scale of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24328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The document highlights quantified momentum including 2027, 500 billion, 38.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3354" y="1280160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3354" y="1280160"/>
            <a:ext cx="3624986" cy="2926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8103" y="1645920"/>
            <a:ext cx="475488" cy="47548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3082" y="2212848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Executive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3082" y="2624328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Artificial intelligence is no longer a futuristic concept — it is actively reshaping how enterprises operate, compete,…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9508" y="1280160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9508" y="1280160"/>
            <a:ext cx="3624986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84257" y="1645920"/>
            <a:ext cx="475488" cy="47548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9236" y="2212848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Market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9236" y="2624328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The North American market leads with a 38% share, followed by Asia-Pacific at 29% and Europe at 24%. Emerging markets c…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941064"/>
            <a:ext cx="3624986" cy="2459736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41064"/>
            <a:ext cx="3624986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31949" y="4306824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873752"/>
            <a:ext cx="340553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1E42"/>
                </a:solidFill>
                <a:latin typeface="Calibri"/>
              </a:rPr>
              <a:t>Key Growth Drivers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285232"/>
            <a:ext cx="3405530" cy="10241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37456A"/>
                </a:solidFill>
                <a:latin typeface="Calibri"/>
              </a:rPr>
              <a:t>The emergence of large language models (LLMs) in 2022-2024 created an inflection point for enterprise AI. Key developme…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0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4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31375" y="731520"/>
            <a:ext cx="1828800" cy="1828800"/>
          </a:xfrm>
          <a:prstGeom prst="ellipse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5775" y="1645920"/>
            <a:ext cx="1005840" cy="1005840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611880"/>
            <a:ext cx="329184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AABBDD"/>
                </a:solidFill>
                <a:latin typeface="Calibri"/>
              </a:rPr>
              <a:t>SECTION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0584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Market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FFD060"/>
                </a:solidFill>
                <a:latin typeface="Calibri"/>
              </a:rPr>
              <a:t>Key signals, evidence, and strategic implications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Market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5 / 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371600"/>
          <a:ext cx="10911535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80760"/>
            <a:ext cx="109115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Calibri"/>
              </a:rPr>
              <a:t>Derived directly from the source table to emphasize trajectory rather than raw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Key Growth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6 / 11</a:t>
            </a:r>
          </a:p>
        </p:txBody>
      </p:sp>
      <p:sp>
        <p:nvSpPr>
          <p:cNvPr id="8" name="Oval 7"/>
          <p:cNvSpPr/>
          <p:nvPr/>
        </p:nvSpPr>
        <p:spPr>
          <a:xfrm>
            <a:off x="2038045" y="3004718"/>
            <a:ext cx="384048" cy="384048"/>
          </a:xfrm>
          <a:prstGeom prst="ellipse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2754"/>
            <a:ext cx="3545738" cy="1463040"/>
          </a:xfrm>
          <a:prstGeom prst="round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 Generative AI Revoluti…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1. Generative AI Revolution</a:t>
            </a:r>
          </a:p>
        </p:txBody>
      </p:sp>
      <p:sp>
        <p:nvSpPr>
          <p:cNvPr id="10" name="Can 9"/>
          <p:cNvSpPr/>
          <p:nvPr/>
        </p:nvSpPr>
        <p:spPr>
          <a:xfrm>
            <a:off x="4039514" y="3905402"/>
            <a:ext cx="246888" cy="237744"/>
          </a:xfrm>
          <a:prstGeom prst="can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03823" y="3004718"/>
            <a:ext cx="384048" cy="38404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3292754"/>
            <a:ext cx="3545738" cy="146304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 Cloud Infrastructure M…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2. Cloud Infrastructure Maturity</a:t>
            </a:r>
          </a:p>
        </p:txBody>
      </p:sp>
      <p:sp>
        <p:nvSpPr>
          <p:cNvPr id="13" name="Can 12"/>
          <p:cNvSpPr/>
          <p:nvPr/>
        </p:nvSpPr>
        <p:spPr>
          <a:xfrm>
            <a:off x="7905292" y="3905402"/>
            <a:ext cx="246888" cy="237744"/>
          </a:xfrm>
          <a:prstGeom prst="can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69601" y="3004718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8756" y="3292754"/>
            <a:ext cx="3545738" cy="1463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 Workforce Augmentation…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3. Workforce Augmentation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Strategic Framework: AI Maturity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7 / 11</a:t>
            </a:r>
          </a:p>
        </p:txBody>
      </p:sp>
      <p:sp>
        <p:nvSpPr>
          <p:cNvPr id="8" name="Oval 7"/>
          <p:cNvSpPr/>
          <p:nvPr/>
        </p:nvSpPr>
        <p:spPr>
          <a:xfrm>
            <a:off x="1554822" y="3004718"/>
            <a:ext cx="384048" cy="384048"/>
          </a:xfrm>
          <a:prstGeom prst="ellipse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92754"/>
            <a:ext cx="2579293" cy="1463040"/>
          </a:xfrm>
          <a:prstGeom prst="round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1: Experimentation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Stage 1: Experimentation</a:t>
            </a:r>
          </a:p>
        </p:txBody>
      </p:sp>
      <p:sp>
        <p:nvSpPr>
          <p:cNvPr id="10" name="Can 9"/>
          <p:cNvSpPr/>
          <p:nvPr/>
        </p:nvSpPr>
        <p:spPr>
          <a:xfrm>
            <a:off x="3073069" y="3905402"/>
            <a:ext cx="246888" cy="237744"/>
          </a:xfrm>
          <a:prstGeom prst="can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54156" y="3004718"/>
            <a:ext cx="384048" cy="384048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6533" y="3292754"/>
            <a:ext cx="2579293" cy="146304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2: Deployment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Stage 2: Deployment</a:t>
            </a:r>
          </a:p>
        </p:txBody>
      </p:sp>
      <p:sp>
        <p:nvSpPr>
          <p:cNvPr id="13" name="Can 12"/>
          <p:cNvSpPr/>
          <p:nvPr/>
        </p:nvSpPr>
        <p:spPr>
          <a:xfrm>
            <a:off x="5972403" y="3905402"/>
            <a:ext cx="246888" cy="237744"/>
          </a:xfrm>
          <a:prstGeom prst="can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53490" y="3004718"/>
            <a:ext cx="384048" cy="38404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867" y="3292754"/>
            <a:ext cx="2579293" cy="1463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3: Integration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Stage 3: Integration</a:t>
            </a:r>
          </a:p>
        </p:txBody>
      </p:sp>
      <p:sp>
        <p:nvSpPr>
          <p:cNvPr id="16" name="Can 15"/>
          <p:cNvSpPr/>
          <p:nvPr/>
        </p:nvSpPr>
        <p:spPr>
          <a:xfrm>
            <a:off x="8871737" y="3905402"/>
            <a:ext cx="246888" cy="237744"/>
          </a:xfrm>
          <a:prstGeom prst="can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52824" y="3004718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5201" y="3292754"/>
            <a:ext cx="2579293" cy="1463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4: Transformation</a:t>
            </a:r>
          </a:p>
          <a:p>
            <a:pPr algn="ctr"/>
            <a:r>
              <a:rPr sz="1000">
                <a:solidFill>
                  <a:srgbClr val="DDE8FF"/>
                </a:solidFill>
                <a:latin typeface="Calibri"/>
              </a:rPr>
              <a:t>Stage 4: Transformation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Challenges and Barriers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8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3667658" cy="502920"/>
          </a:xfrm>
          <a:prstGeom prst="round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 Quality and Govern…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01952"/>
            <a:ext cx="3667658" cy="45445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1E4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Calibri"/>
              </a:rPr>
              <a:t>▶  Data Quality and Governance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2018" y="1325880"/>
            <a:ext cx="3667658" cy="50292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Talent and Skills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2018" y="1901952"/>
            <a:ext cx="3667658" cy="45445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Calibri"/>
              </a:rPr>
              <a:t>▶  Talent and Skills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325880"/>
            <a:ext cx="366765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Integration Complexity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901952"/>
            <a:ext cx="3667658" cy="45445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Calibri"/>
              </a:rPr>
              <a:t>▶  Integration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0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9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31375" y="731520"/>
            <a:ext cx="1828800" cy="1828800"/>
          </a:xfrm>
          <a:prstGeom prst="ellipse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45775" y="1645920"/>
            <a:ext cx="1005840" cy="1005840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611880"/>
            <a:ext cx="3291840" cy="7315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8229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AABBDD"/>
                </a:solidFill>
                <a:latin typeface="Calibri"/>
              </a:rPr>
              <a:t>SECTION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0584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Comparing AI Deployment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FFD060"/>
                </a:solidFill>
                <a:latin typeface="Calibri"/>
              </a:rPr>
              <a:t>Key signals, evidence, and strategic implications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47472" y="137160"/>
            <a:ext cx="11569903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Comparing AI Deployment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3667658" cy="502920"/>
          </a:xfrm>
          <a:prstGeom prst="roundRect">
            <a:avLst/>
          </a:prstGeom>
          <a:solidFill>
            <a:srgbClr val="1E4A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01952"/>
            <a:ext cx="3667658" cy="45445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1E4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Calibri"/>
              </a:rPr>
              <a:t>▶  Time to Deploy: 12-24 months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Total Cost: High ($2-10M)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Customization: Full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IP Ownership: 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2018" y="1325880"/>
            <a:ext cx="3667658" cy="502920"/>
          </a:xfrm>
          <a:prstGeom prst="round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2018" y="1901952"/>
            <a:ext cx="3667658" cy="45445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Calibri"/>
              </a:rPr>
              <a:t>▶  Time to Deploy: 1-3 months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Total Cost: Low ($50-500K)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Customization: Limited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IP Ownership: 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6836" y="1325880"/>
            <a:ext cx="3667658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Partner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901952"/>
            <a:ext cx="3667658" cy="454456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91440" bIns="91440"/>
          <a:lstStyle/>
          <a:p>
            <a:pPr algn="ctr"/>
            <a:r>
              <a:rPr sz="1200">
                <a:solidFill>
                  <a:srgbClr val="37456A"/>
                </a:solidFill>
                <a:latin typeface="Calibri"/>
              </a:rPr>
              <a:t>▶  Time to Deploy: 3-6 months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Total Cost: Medium ($200K-2M)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Customization: Moderate</a:t>
            </a:r>
          </a:p>
          <a:p>
            <a:r>
              <a:rPr sz="1200">
                <a:solidFill>
                  <a:srgbClr val="37456A"/>
                </a:solidFill>
                <a:latin typeface="Calibri"/>
              </a:rPr>
              <a:t>▶  IP Ownership: Shared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537960"/>
            <a:ext cx="8534186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>
                <a:solidFill>
                  <a:srgbClr val="AABBDD"/>
                </a:solidFill>
                <a:latin typeface="Calibri"/>
              </a:rPr>
              <a:t>The Future of Artificial Intelligence in Enterprise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>
                <a:solidFill>
                  <a:srgbClr val="AABBDD"/>
                </a:solidFill>
                <a:latin typeface="Calibri"/>
              </a:rPr>
              <a:t>11 /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547207" cy="26060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2070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188720"/>
            <a:ext cx="4715103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Executive Summary</a:t>
            </a:r>
          </a:p>
          <a:p>
            <a:r>
              <a:rPr sz="1100">
                <a:solidFill>
                  <a:srgbClr val="AABBDD"/>
                </a:solidFill>
                <a:latin typeface="Calibri"/>
              </a:rPr>
              <a:t>Artificial intelligence is no longer a futuristic concept — it is actively reshaping how enterprise…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1097280"/>
            <a:ext cx="5547207" cy="26060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24447" y="12070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2231" y="1188720"/>
            <a:ext cx="4715103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Market Overview</a:t>
            </a:r>
          </a:p>
          <a:p>
            <a:r>
              <a:rPr sz="1100">
                <a:solidFill>
                  <a:srgbClr val="AABBDD"/>
                </a:solidFill>
                <a:latin typeface="Calibri"/>
              </a:rPr>
              <a:t>The North American market leads with a 38% share, followed by Asia-Pacific at 29% and Europe at 24%…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547207" cy="26060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" y="39502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3931920"/>
            <a:ext cx="4715103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Key Growth Drivers</a:t>
            </a:r>
          </a:p>
          <a:p>
            <a:r>
              <a:rPr sz="1100">
                <a:solidFill>
                  <a:srgbClr val="AABBDD"/>
                </a:solidFill>
                <a:latin typeface="Calibri"/>
              </a:rPr>
              <a:t>The emergence of large language models (LLMs) in 2022-2024 created an inflection point for enterpri…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3840480"/>
            <a:ext cx="5547207" cy="2606040"/>
          </a:xfrm>
          <a:prstGeom prst="roundRect">
            <a:avLst/>
          </a:prstGeom>
          <a:solidFill>
            <a:srgbClr val="163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24447" y="3950208"/>
            <a:ext cx="420624" cy="420624"/>
          </a:xfrm>
          <a:prstGeom prst="ellipse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D1E42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2231" y="3931920"/>
            <a:ext cx="4715103" cy="2468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Strategic Framework: AI Maturity Model</a:t>
            </a:r>
          </a:p>
          <a:p>
            <a:r>
              <a:rPr sz="1100">
                <a:solidFill>
                  <a:srgbClr val="AABBDD"/>
                </a:solidFill>
                <a:latin typeface="Calibri"/>
              </a:rPr>
              <a:t>Organizations progress through four distinct stages of AI maturity: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