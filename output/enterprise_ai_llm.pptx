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3657600"/>
            <a:ext cx="3200400" cy="3200400"/>
          </a:xfrm>
          <a:prstGeom prst="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5029200"/>
            <a:ext cx="1828800" cy="1828800"/>
          </a:xfrm>
          <a:prstGeom prst="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4114800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Future of Artificial Intelligence in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2 / 13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2588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1371600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47672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1993392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Market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69464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615184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Key Growth Drivers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91256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236976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16" name="Oval 15"/>
          <p:cNvSpPr/>
          <p:nvPr/>
        </p:nvSpPr>
        <p:spPr>
          <a:xfrm>
            <a:off x="6233007" y="132588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0791" y="1371600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Challenges and Barriers</a:t>
            </a:r>
          </a:p>
        </p:txBody>
      </p:sp>
      <p:sp>
        <p:nvSpPr>
          <p:cNvPr id="18" name="Oval 17"/>
          <p:cNvSpPr/>
          <p:nvPr/>
        </p:nvSpPr>
        <p:spPr>
          <a:xfrm>
            <a:off x="6233007" y="1947672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0791" y="1993392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Comparing AI Deployment Models</a:t>
            </a:r>
          </a:p>
        </p:txBody>
      </p:sp>
      <p:sp>
        <p:nvSpPr>
          <p:cNvPr id="20" name="Oval 19"/>
          <p:cNvSpPr/>
          <p:nvPr/>
        </p:nvSpPr>
        <p:spPr>
          <a:xfrm>
            <a:off x="6233007" y="2569464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0791" y="2615184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ROI Analysis</a:t>
            </a:r>
          </a:p>
        </p:txBody>
      </p:sp>
      <p:sp>
        <p:nvSpPr>
          <p:cNvPr id="22" name="Oval 21"/>
          <p:cNvSpPr/>
          <p:nvPr/>
        </p:nvSpPr>
        <p:spPr>
          <a:xfrm>
            <a:off x="6233007" y="3191256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0791" y="3236976"/>
            <a:ext cx="4943703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Regional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1E4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24986" cy="292608"/>
          </a:xfrm>
          <a:prstGeom prst="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31949" y="1645920"/>
            <a:ext cx="475488" cy="475488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Artificial intelligence is no longer a futuristic concept — it is actively reshaping how enterprises operate, compete,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3354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3354" y="1280160"/>
            <a:ext cx="3624986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8103" y="1645920"/>
            <a:ext cx="475488" cy="47548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3082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Market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3082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North American market leads with a 38% share, followed by Asia-Pacific at 29% and Europe at 24%. Emerging markets 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9508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9508" y="1280160"/>
            <a:ext cx="3624986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84257" y="1645920"/>
            <a:ext cx="475488" cy="47548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9236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Key Growth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236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emergence of large language models (LLMs) in 2022-2024 created an inflection point for enterprise AI. Key developmen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41064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41064"/>
            <a:ext cx="3624986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31949" y="4306824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73752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285232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Organizations progress through four distinct stages of AI maturity: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4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Artificial intelligence is no longer a futuristic concept — it is actively reshaping how enterprises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By 2027, enterprise AI spending is projected to reach $500 billion globally, representing a compound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5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The North American market leads with a 38% share, followed by Asia-Pacific at 29% and Europe at 24%.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Enterprise AI adoption varies significantly across sectors: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Financial Services – 72% adoption rate, led by fraud detection and algorithmic trading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Healthcare &amp; Life Sciences – 65% adoption, focused on diagnostics and drug discovery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Retail &amp; E-commerce – 61% adoption, driven by recommendation engines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Growth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6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The emergence of large language models (LLMs) in 2022-2024 created an inflection point for enterpris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ChatGPT reached 100 million users in 60 days — fastest consumer product launch ever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Enterprise LLM licensing market exceeded $12 billion in 2024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83% of Fortune 500 companies have active GenAI pilot programs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Average enterprise LLM deployment costs dropped 70% from 2023 to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7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Organizations progress through four distinct stages of AI maturity: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Isolated POC projects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No production AI systems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Limited data infrastructure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Typical timeline: 0-12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Challenges and Barriers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8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Data remains the primary bottleneck for AI success: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87% of AI projects fail due to poor data quality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Average enterprise stores data in 14 different systems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Only 32% of organizations have a formal data governance framework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GDPR and data sovereignty laws create cross-border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ROI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9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AI investments show highly variable but consistently positive returns across deployed use cases: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Customer service chatbots: 250% ROI in 18 months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Predictive maintenance: 310% ROI in 24 months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Fraud detection: 420% ROI in 12 months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Supply chain optimization: 185% ROI in 24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Regional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10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109441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United States: $98B (42% of global total)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China: $47B (20%)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European Union: $35B (15%)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United Kingdom: $18B (8%)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F0A500"/>
                </a:solidFill>
                <a:latin typeface="Calibri"/>
              </a:rPr>
              <a:t>▶  </a:t>
            </a:r>
            <a:r>
              <a:rPr sz="1700" b="1">
                <a:solidFill>
                  <a:srgbClr val="1A1A2E"/>
                </a:solidFill>
                <a:latin typeface="Calibri"/>
              </a:rPr>
              <a:t>India: $12B (5%)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11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1002975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58"/>
                <a:gridCol w="3667658"/>
                <a:gridCol w="3667659"/>
              </a:tblGrid>
              <a:tr h="35890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Market Size (USD Billion)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Growth Rate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87.0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119.4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164.0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233.0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315.0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420.0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58902"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500.0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12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1002975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743"/>
                <a:gridCol w="2750743"/>
                <a:gridCol w="2750743"/>
                <a:gridCol w="2750746"/>
              </a:tblGrid>
              <a:tr h="36053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Buy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Time to Deploy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12-24 months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1-3 months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3-6 months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Total Cost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High ($2-10M)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Low ($50-500K)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Medium ($200K-2M)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Customization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IP Ownership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Shared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Maintenance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Shared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  <a:tr h="3605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456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2070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1887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0972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4447" y="12070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2231" y="11887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0358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30175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Key Growth Drivers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29260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24447" y="30358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2231" y="30175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5547207" cy="16916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48646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4846320"/>
            <a:ext cx="4715103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Challenges and Barriers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