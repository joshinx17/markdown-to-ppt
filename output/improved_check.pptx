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Market Size (USD Billion)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87.0</c:v>
                </c:pt>
                <c:pt idx="1">
                  <c:v>119.4</c:v>
                </c:pt>
                <c:pt idx="2">
                  <c:v>164.0</c:v>
                </c:pt>
                <c:pt idx="3">
                  <c:v>233.0</c:v>
                </c:pt>
                <c:pt idx="4">
                  <c:v>315.0</c:v>
                </c:pt>
                <c:pt idx="5">
                  <c:v>420.0</c:v>
                </c:pt>
                <c:pt idx="6">
                  <c:v>500.0</c:v>
                </c:pt>
              </c:numCache>
            </c:numRef>
          </c:val>
          <c:smooth val="0"/>
          <c:spPr>
            <a:solidFill>
              <a:srgbClr/>
            </a:solidFill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ROI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Customer service chatbots</c:v>
                </c:pt>
                <c:pt idx="1">
                  <c:v>Predictive maintenance</c:v>
                </c:pt>
                <c:pt idx="2">
                  <c:v>Fraud detection</c:v>
                </c:pt>
                <c:pt idx="3">
                  <c:v>Supply chain optimization</c:v>
                </c:pt>
                <c:pt idx="4">
                  <c:v>Document processing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250.0</c:v>
                </c:pt>
                <c:pt idx="1">
                  <c:v>310.0</c:v>
                </c:pt>
                <c:pt idx="2">
                  <c:v>420.0</c:v>
                </c:pt>
                <c:pt idx="3">
                  <c:v>185.0</c:v>
                </c:pt>
                <c:pt idx="4">
                  <c:v>200.0</c:v>
                </c:pt>
              </c:numCache>
            </c:numRef>
          </c:val>
          <c:spPr>
            <a:solidFill>
              <a:srgbClr/>
            </a:solidFill>
          </c:spPr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message and frame the business question this deck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narrative arc so the audience understands how the story will unfold.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cards to cover the strongest signals, then transition into the evidence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tradeoffs across the columns instead of reading each row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chart to compare relative magnitude quickly before discussing the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decisions or actions the audience should take away from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3657600"/>
            <a:ext cx="3200400" cy="3200400"/>
          </a:xfrm>
          <a:prstGeom prst="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5029200"/>
            <a:ext cx="1828800" cy="1828800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4114800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D060"/>
                </a:solidFill>
                <a:latin typeface="Calibri"/>
              </a:rPr>
              <a:t>Executive Summary Artificial intelligence is no longer a futuristic concept — it is actively reshaping how en…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2 / 12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1371600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4767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993392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15184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Key Growth Drivers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9125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236976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Strategic Framework: AI Maturity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24986" cy="292608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1949" y="1645920"/>
            <a:ext cx="475488" cy="47548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Scale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document highlights quantified momentum including 2027, 500 billion, 38.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3354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3354" y="1280160"/>
            <a:ext cx="3624986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8103" y="1645920"/>
            <a:ext cx="475488" cy="47548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3082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3082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Artificial intelligence is no longer a futuristic concept — it is actively reshaping how enterprises operate, compete,…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9508" y="1280160"/>
            <a:ext cx="362498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84257" y="164592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9236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Market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North American market leads with a 38% share, followed by Asia-Pacific at 29% and Europe at 24%. Emerging markets c…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41064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41064"/>
            <a:ext cx="362498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31949" y="4306824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73752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Key Growth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285232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emergence of large language models (LLMs) in 2022-2024 created an inflection point for enterprise AI. Key developme…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375" y="731520"/>
            <a:ext cx="1828800" cy="1828800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5775" y="1645920"/>
            <a:ext cx="1005840" cy="100584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329184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AABBDD"/>
                </a:solidFill>
                <a:latin typeface="Calibri"/>
              </a:rPr>
              <a:t>SECTION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D060"/>
                </a:solidFill>
                <a:latin typeface="Calibri"/>
              </a:rPr>
              <a:t>Key signals, evidence, and strategic implications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5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71600"/>
          <a:ext cx="10911535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Calibri"/>
              </a:rPr>
              <a:t>Derived directly from the source table to emphasize trajectory rather than raw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6 / 12</a:t>
            </a:r>
          </a:p>
        </p:txBody>
      </p:sp>
      <p:sp>
        <p:nvSpPr>
          <p:cNvPr id="8" name="Oval 7"/>
          <p:cNvSpPr/>
          <p:nvPr/>
        </p:nvSpPr>
        <p:spPr>
          <a:xfrm>
            <a:off x="2038045" y="3004718"/>
            <a:ext cx="384048" cy="38404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2754"/>
            <a:ext cx="3545738" cy="146304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Generative AI Revoluti…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1. Generative AI Revolution</a:t>
            </a:r>
          </a:p>
        </p:txBody>
      </p:sp>
      <p:sp>
        <p:nvSpPr>
          <p:cNvPr id="10" name="Can 9"/>
          <p:cNvSpPr/>
          <p:nvPr/>
        </p:nvSpPr>
        <p:spPr>
          <a:xfrm>
            <a:off x="4039514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03823" y="3004718"/>
            <a:ext cx="384048" cy="38404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3292754"/>
            <a:ext cx="3545738" cy="146304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Cloud Infrastructure M…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2. Cloud Infrastructure Maturity</a:t>
            </a:r>
          </a:p>
        </p:txBody>
      </p:sp>
      <p:sp>
        <p:nvSpPr>
          <p:cNvPr id="13" name="Can 12"/>
          <p:cNvSpPr/>
          <p:nvPr/>
        </p:nvSpPr>
        <p:spPr>
          <a:xfrm>
            <a:off x="7905292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69601" y="3004718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8756" y="3292754"/>
            <a:ext cx="3545738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Workforce Augmentation…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3. Workforce Augmentation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7 / 12</a:t>
            </a:r>
          </a:p>
        </p:txBody>
      </p:sp>
      <p:sp>
        <p:nvSpPr>
          <p:cNvPr id="8" name="Oval 7"/>
          <p:cNvSpPr/>
          <p:nvPr/>
        </p:nvSpPr>
        <p:spPr>
          <a:xfrm>
            <a:off x="1554822" y="3004718"/>
            <a:ext cx="384048" cy="38404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2754"/>
            <a:ext cx="2579293" cy="146304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1: Experimentation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1: Experimentation</a:t>
            </a:r>
          </a:p>
        </p:txBody>
      </p:sp>
      <p:sp>
        <p:nvSpPr>
          <p:cNvPr id="10" name="Can 9"/>
          <p:cNvSpPr/>
          <p:nvPr/>
        </p:nvSpPr>
        <p:spPr>
          <a:xfrm>
            <a:off x="3073069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54156" y="3004718"/>
            <a:ext cx="384048" cy="38404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6533" y="3292754"/>
            <a:ext cx="2579293" cy="146304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2: Deployment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2: Deployment</a:t>
            </a:r>
          </a:p>
        </p:txBody>
      </p:sp>
      <p:sp>
        <p:nvSpPr>
          <p:cNvPr id="13" name="Can 12"/>
          <p:cNvSpPr/>
          <p:nvPr/>
        </p:nvSpPr>
        <p:spPr>
          <a:xfrm>
            <a:off x="5972403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53490" y="3004718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3292754"/>
            <a:ext cx="2579293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3: Integration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3: Integration</a:t>
            </a:r>
          </a:p>
        </p:txBody>
      </p:sp>
      <p:sp>
        <p:nvSpPr>
          <p:cNvPr id="16" name="Can 15"/>
          <p:cNvSpPr/>
          <p:nvPr/>
        </p:nvSpPr>
        <p:spPr>
          <a:xfrm>
            <a:off x="8871737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52824" y="3004718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5201" y="3292754"/>
            <a:ext cx="2579293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4: Transformation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4: Transformation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Challenges and Barriers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667658" cy="50292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 Quality and Govern…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Data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2018" y="1325880"/>
            <a:ext cx="3667658" cy="50292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Talent and Skills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2018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Talent and Skills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325880"/>
            <a:ext cx="366765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Integration Complexity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Integration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375" y="731520"/>
            <a:ext cx="1828800" cy="1828800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5775" y="1645920"/>
            <a:ext cx="1005840" cy="100584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329184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AABBDD"/>
                </a:solidFill>
                <a:latin typeface="Calibri"/>
              </a:rPr>
              <a:t>SECTION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Comparing AI Deployment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D060"/>
                </a:solidFill>
                <a:latin typeface="Calibri"/>
              </a:rPr>
              <a:t>Key signals, evidence, and strategic implications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Comparing AI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667658" cy="50292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Time to Deploy: 12-24 months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Total Cost: High ($2-10M)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Customization: Full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IP Ownership: 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2018" y="1325880"/>
            <a:ext cx="3667658" cy="50292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2018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Time to Deploy: 1-3 months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Total Cost: Low ($50-500K)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Customization: Limited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IP Ownership: 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325880"/>
            <a:ext cx="366765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Time to Deploy: 3-6 months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Total Cost: Medium ($200K-2M)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Customization: Moderate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IP Ownership: Shared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11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71600"/>
          <a:ext cx="10911535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Calibri"/>
              </a:rPr>
              <a:t>Values extracted from labeled bullet points in the source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1887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Executive Summary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Artificial intelligence is no longer a futuristic concept — it is actively reshaping how enterprise…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0972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4447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2231" y="11887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Market Overview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The North American market leads with a 38% share, followed by Asia-Pacific at 29% and Europe at 24%…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9502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9319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Key Growth Drivers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The emergence of large language models (LLMs) in 2022-2024 created an inflection point for enterpri…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8404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4447" y="39502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2231" y="39319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Organizations progress through four distinct stages of AI maturity: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