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535"/>
                </a:solidFill>
                <a:latin typeface="Segoe UI"/>
              </a:rPr>
              <a:t>Market Size (USD Billion)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</c:v>
                </c:pt>
                <c:pt idx="1">
                  <c:v>119.4</c:v>
                </c:pt>
                <c:pt idx="2">
                  <c:v>164.0</c:v>
                </c:pt>
                <c:pt idx="3">
                  <c:v>233.0</c:v>
                </c:pt>
                <c:pt idx="4">
                  <c:v>315.0</c:v>
                </c:pt>
                <c:pt idx="5">
                  <c:v>420.0</c:v>
                </c:pt>
                <c:pt idx="6">
                  <c:v>500.0</c:v>
                </c:pt>
              </c:numCache>
            </c:numRef>
          </c:val>
          <c:smooth val="0"/>
          <c:spPr>
            <a:solidFill>
              <a:srgbClr/>
            </a:solidFill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535"/>
                </a:solidFill>
                <a:latin typeface="Segoe UI"/>
              </a:rPr>
              <a:t>ROI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Customer service chatbots</c:v>
                </c:pt>
                <c:pt idx="1">
                  <c:v>Predictive maintenance</c:v>
                </c:pt>
                <c:pt idx="2">
                  <c:v>Fraud detection</c:v>
                </c:pt>
                <c:pt idx="3">
                  <c:v>Supply chain optimization</c:v>
                </c:pt>
                <c:pt idx="4">
                  <c:v>Document processing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250.0</c:v>
                </c:pt>
                <c:pt idx="1">
                  <c:v>310.0</c:v>
                </c:pt>
                <c:pt idx="2">
                  <c:v>420.0</c:v>
                </c:pt>
                <c:pt idx="3">
                  <c:v>185.0</c:v>
                </c:pt>
                <c:pt idx="4">
                  <c:v>200.0</c:v>
                </c:pt>
              </c:numCache>
            </c:numRef>
          </c:val>
          <c:spPr>
            <a:solidFill>
              <a:srgbClr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tradeoffs across the columns instead of reading each row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chart to compare relative magnitude quickly before discussing the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2 / 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1732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46304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3911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084832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66090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706624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8269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328416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Strategic Framework: AI Maturity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594506" cy="29260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62429" y="1737360"/>
            <a:ext cx="475488" cy="47548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Scale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document highlights quantified momentum including 2027, 500 billion, 38.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594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8594" y="1371600"/>
            <a:ext cx="3594506" cy="292608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737360"/>
            <a:ext cx="475488" cy="47548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8322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8322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Artificial intelligence is no longer a futuristic concept — it is actively reshaping how enterprises operate, compete,…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4268" y="1371600"/>
            <a:ext cx="359450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53777" y="173736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Market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North American market leads with a 38% share, followed by Asia-Pacific at 29% and Europe at 24%. Emerging markets c…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41064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41064"/>
            <a:ext cx="359450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2429" y="4306824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873752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Key Growth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285232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emergence of large language models (LLMs) in 2022-2024 created an inflection point for enterprise AI. Key developme…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5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63040"/>
          <a:ext cx="1082009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38098"/>
                </a:solidFill>
                <a:latin typeface="Segoe UI"/>
              </a:rPr>
              <a:t>Derived directly from the source table to emphasize trajectory rather than raw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6 / 12</a:t>
            </a:r>
          </a:p>
        </p:txBody>
      </p:sp>
      <p:sp>
        <p:nvSpPr>
          <p:cNvPr id="8" name="Oval 7"/>
          <p:cNvSpPr/>
          <p:nvPr/>
        </p:nvSpPr>
        <p:spPr>
          <a:xfrm>
            <a:off x="2068525" y="3004718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2754"/>
            <a:ext cx="3515258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Generative AI Revoluti…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1. Generative AI Revolution</a:t>
            </a:r>
          </a:p>
        </p:txBody>
      </p:sp>
      <p:sp>
        <p:nvSpPr>
          <p:cNvPr id="10" name="Can 9"/>
          <p:cNvSpPr/>
          <p:nvPr/>
        </p:nvSpPr>
        <p:spPr>
          <a:xfrm>
            <a:off x="4054754" y="3905402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03823" y="3004718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3292754"/>
            <a:ext cx="3515258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Cloud Infrastructure M…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2. Cloud Infrastructure Maturity</a:t>
            </a:r>
          </a:p>
        </p:txBody>
      </p:sp>
      <p:sp>
        <p:nvSpPr>
          <p:cNvPr id="13" name="Can 12"/>
          <p:cNvSpPr/>
          <p:nvPr/>
        </p:nvSpPr>
        <p:spPr>
          <a:xfrm>
            <a:off x="7890052" y="3905402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39121" y="300471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3516" y="3292754"/>
            <a:ext cx="3515258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Workforce Augmentation…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3. Workforce Augmentation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7 / 12</a:t>
            </a:r>
          </a:p>
        </p:txBody>
      </p:sp>
      <p:sp>
        <p:nvSpPr>
          <p:cNvPr id="8" name="Oval 7"/>
          <p:cNvSpPr/>
          <p:nvPr/>
        </p:nvSpPr>
        <p:spPr>
          <a:xfrm>
            <a:off x="1589112" y="3004718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2754"/>
            <a:ext cx="2556433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1: Experimentation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1: Experimentation</a:t>
            </a:r>
          </a:p>
        </p:txBody>
      </p:sp>
      <p:sp>
        <p:nvSpPr>
          <p:cNvPr id="10" name="Can 9"/>
          <p:cNvSpPr/>
          <p:nvPr/>
        </p:nvSpPr>
        <p:spPr>
          <a:xfrm>
            <a:off x="3095929" y="3905402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65586" y="3004718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3292754"/>
            <a:ext cx="2556433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2: Deployment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2: Deployment</a:t>
            </a:r>
          </a:p>
        </p:txBody>
      </p:sp>
      <p:sp>
        <p:nvSpPr>
          <p:cNvPr id="13" name="Can 12"/>
          <p:cNvSpPr/>
          <p:nvPr/>
        </p:nvSpPr>
        <p:spPr>
          <a:xfrm>
            <a:off x="5972403" y="3905402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42060" y="300471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3292754"/>
            <a:ext cx="2556433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3: Integration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3: Integration</a:t>
            </a:r>
          </a:p>
        </p:txBody>
      </p:sp>
      <p:sp>
        <p:nvSpPr>
          <p:cNvPr id="16" name="Can 15"/>
          <p:cNvSpPr/>
          <p:nvPr/>
        </p:nvSpPr>
        <p:spPr>
          <a:xfrm>
            <a:off x="8848877" y="3905402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18534" y="3004718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2341" y="3292754"/>
            <a:ext cx="2556433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4: Transformation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4: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37178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Data Quality and Govern…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Data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417320"/>
            <a:ext cx="3637178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Talent and Skills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7258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Talent and Skills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1417320"/>
            <a:ext cx="3637178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Integration Complexity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Integration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37178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12-24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High ($2-10M)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Full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417320"/>
            <a:ext cx="3637178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7258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1-3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Low ($50-500K)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Limited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1417320"/>
            <a:ext cx="3637178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1993392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3-6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Medium ($200K-2M)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Moderate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Shared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ROI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11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63040"/>
          <a:ext cx="1082009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38098"/>
                </a:solidFill>
                <a:latin typeface="Segoe UI"/>
              </a:rPr>
              <a:t>Values extracted from labeled bullet points in the source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