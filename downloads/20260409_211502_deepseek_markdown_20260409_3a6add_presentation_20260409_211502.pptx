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0F1535"/>
                </a:solidFill>
                <a:latin typeface="Segoe UI"/>
              </a:rPr>
              <a:t>Milestone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2025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1000.0</c:v>
                </c:pt>
              </c:numCache>
            </c:numRef>
          </c:val>
          <c:spPr>
            <a:solidFill>
              <a:srgbClr/>
            </a:solidFill>
          </c:spPr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Segoe U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headline message and frame the business question this deck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Preview the narrative arc so the audience understands how the story will unfold.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these cards to cover the strongest signals, then transition into the evidence behind each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briefly here to signal a shift in the story before moving into the next cluster of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verbal explanation richer than the slide; the slide should only carry the strongest anchors.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verbal explanation richer than the slide; the slide should only carry the strongest anchors.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headline trend, then explain the two or three datapoints that matter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briefly here to signal a shift in the story before moving into the next cluster of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verbal explanation richer than the slide; the slide should only carry the strongest anchors.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verbal explanation richer than the slide; the slide should only carry the strongest anchors.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headline trend, then explain the two or three datapoints that matter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decisions or actions the audience should take away from the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164592"/>
            <a:ext cx="1147846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The Rise of Quantum Computing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492240"/>
            <a:ext cx="853418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Segoe UI"/>
              </a:rPr>
              <a:t>The Rise of Quantum Computing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1005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Segoe UI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164592"/>
            <a:ext cx="1147846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492240"/>
            <a:ext cx="853418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Segoe UI"/>
              </a:rPr>
              <a:t>The Rise of Quantum Computing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1005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Segoe UI"/>
              </a:rPr>
              <a:t>2 / 12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1417320"/>
            <a:ext cx="420624" cy="420624"/>
          </a:xfrm>
          <a:prstGeom prst="ellipse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1463040"/>
            <a:ext cx="10490911" cy="3749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0F1535"/>
                </a:solidFill>
                <a:latin typeface="Segoe UI"/>
              </a:rPr>
              <a:t>A Beginner’s Guide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039112"/>
            <a:ext cx="420624" cy="420624"/>
          </a:xfrm>
          <a:prstGeom prst="ellipse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" y="2084832"/>
            <a:ext cx="10490911" cy="3749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0F1535"/>
                </a:solidFill>
                <a:latin typeface="Segoe UI"/>
              </a:rPr>
              <a:t>Agenda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2660904"/>
            <a:ext cx="420624" cy="420624"/>
          </a:xfrm>
          <a:prstGeom prst="ellipse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" y="2706624"/>
            <a:ext cx="10490911" cy="3749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0F1535"/>
                </a:solidFill>
                <a:latin typeface="Segoe UI"/>
              </a:rPr>
              <a:t>What is Quantum Computing?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3282696"/>
            <a:ext cx="420624" cy="420624"/>
          </a:xfrm>
          <a:prstGeom prst="ellipse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" y="3328416"/>
            <a:ext cx="10490911" cy="3749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0F1535"/>
                </a:solidFill>
                <a:latin typeface="Segoe UI"/>
              </a:rPr>
              <a:t>Classical vs. Quantum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164592"/>
            <a:ext cx="1147846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492240"/>
            <a:ext cx="853418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Segoe UI"/>
              </a:rPr>
              <a:t>The Rise of Quantum Computing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1005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Segoe UI"/>
              </a:rPr>
              <a:t>3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3594506" cy="2368296"/>
          </a:xfrm>
          <a:prstGeom prst="roundRect">
            <a:avLst/>
          </a:prstGeom>
          <a:solidFill>
            <a:srgbClr val="ECF6F7"/>
          </a:solidFill>
          <a:ln w="15240">
            <a:solidFill>
              <a:srgbClr val="009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3594506" cy="292608"/>
          </a:xfrm>
          <a:prstGeom prst="rect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62429" y="1737360"/>
            <a:ext cx="475488" cy="475488"/>
          </a:xfrm>
          <a:prstGeom prst="ellipse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/>
              <a:t>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304288"/>
            <a:ext cx="337505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D1E42"/>
                </a:solidFill>
                <a:latin typeface="Segoe UI"/>
              </a:rPr>
              <a:t>Scale of Opportunity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715768"/>
            <a:ext cx="3375050" cy="9326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37456A"/>
                </a:solidFill>
                <a:latin typeface="Segoe UI"/>
              </a:rPr>
              <a:t>The document highlights quantified momentum including 1, 4, 6.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8594" y="1371600"/>
            <a:ext cx="3594506" cy="2368296"/>
          </a:xfrm>
          <a:prstGeom prst="roundRect">
            <a:avLst/>
          </a:prstGeom>
          <a:solidFill>
            <a:srgbClr val="ECF6F7"/>
          </a:solidFill>
          <a:ln w="15240">
            <a:solidFill>
              <a:srgbClr val="0D1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8594" y="1371600"/>
            <a:ext cx="3594506" cy="292608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58103" y="1737360"/>
            <a:ext cx="475488" cy="475488"/>
          </a:xfrm>
          <a:prstGeom prst="ellipse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/>
              <a:t>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8322" y="2304288"/>
            <a:ext cx="337505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D1E42"/>
                </a:solidFill>
                <a:latin typeface="Segoe UI"/>
              </a:rPr>
              <a:t>A Beginner’s 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8322" y="2715768"/>
            <a:ext cx="3375050" cy="9326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37456A"/>
                </a:solidFill>
                <a:latin typeface="Segoe UI"/>
              </a:rPr>
              <a:t>A Beginner’s Guide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1371600"/>
            <a:ext cx="3594506" cy="2368296"/>
          </a:xfrm>
          <a:prstGeom prst="roundRect">
            <a:avLst/>
          </a:prstGeom>
          <a:solidFill>
            <a:srgbClr val="ECF6F7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4268" y="1371600"/>
            <a:ext cx="3594506" cy="2926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53777" y="1737360"/>
            <a:ext cx="475488" cy="47548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/>
              <a:t>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2304288"/>
            <a:ext cx="337505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D1E42"/>
                </a:solidFill>
                <a:latin typeface="Segoe UI"/>
              </a:rPr>
              <a:t>Agenda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3996" y="2715768"/>
            <a:ext cx="3375050" cy="9326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37456A"/>
                </a:solidFill>
                <a:latin typeface="Segoe UI"/>
              </a:rPr>
              <a:t>What is Quantum Computing?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941064"/>
            <a:ext cx="3594506" cy="2368296"/>
          </a:xfrm>
          <a:prstGeom prst="roundRect">
            <a:avLst/>
          </a:prstGeom>
          <a:solidFill>
            <a:srgbClr val="ECF6F7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941064"/>
            <a:ext cx="3594506" cy="2926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062429" y="4306824"/>
            <a:ext cx="475488" cy="47548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/>
              <a:t>RI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4873752"/>
            <a:ext cx="337505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D1E42"/>
                </a:solidFill>
                <a:latin typeface="Segoe UI"/>
              </a:rPr>
              <a:t>What is Quantum Computing?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285232"/>
            <a:ext cx="3375050" cy="9326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37456A"/>
                </a:solidFill>
                <a:latin typeface="Segoe UI"/>
              </a:rPr>
              <a:t>Uses qubits instead of classical bits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164592"/>
            <a:ext cx="1147846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A Beginner’s Guide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492240"/>
            <a:ext cx="853418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Segoe UI"/>
              </a:rPr>
              <a:t>The Rise of Quantum Computing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1005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Segoe U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164592"/>
            <a:ext cx="1147846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492240"/>
            <a:ext cx="853418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Segoe UI"/>
              </a:rPr>
              <a:t>The Rise of Quantum Computing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1005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Segoe UI"/>
              </a:rPr>
              <a:t>5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1371600"/>
            <a:ext cx="5382615" cy="2409444"/>
          </a:xfrm>
          <a:prstGeom prst="roundRect">
            <a:avLst/>
          </a:prstGeom>
          <a:solidFill>
            <a:srgbClr val="ECF6F7"/>
          </a:solidFill>
          <a:ln w="13970">
            <a:solidFill>
              <a:srgbClr val="009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1371600"/>
            <a:ext cx="5382615" cy="91440"/>
          </a:xfrm>
          <a:prstGeom prst="rect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1554480"/>
            <a:ext cx="420624" cy="420624"/>
          </a:xfrm>
          <a:prstGeom prst="ellipse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62456" y="1517904"/>
            <a:ext cx="4468215" cy="2153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F1535"/>
                </a:solidFill>
                <a:latin typeface="Segoe UI"/>
              </a:rPr>
              <a:t>What is Quantum Computing?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6431" y="1371600"/>
            <a:ext cx="5382615" cy="2409444"/>
          </a:xfrm>
          <a:prstGeom prst="roundRect">
            <a:avLst/>
          </a:prstGeom>
          <a:solidFill>
            <a:srgbClr val="ECF6F7"/>
          </a:solidFill>
          <a:ln w="13970">
            <a:solidFill>
              <a:srgbClr val="0D1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6431" y="1371600"/>
            <a:ext cx="5382615" cy="914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61023" y="1554480"/>
            <a:ext cx="420624" cy="420624"/>
          </a:xfrm>
          <a:prstGeom prst="ellipse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6239" y="1517904"/>
            <a:ext cx="4468215" cy="2153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F1535"/>
                </a:solidFill>
                <a:latin typeface="Segoe UI"/>
              </a:rPr>
              <a:t>Key Differences: Classical vs. Quantum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3945636"/>
            <a:ext cx="5382615" cy="2409444"/>
          </a:xfrm>
          <a:prstGeom prst="roundRect">
            <a:avLst/>
          </a:prstGeom>
          <a:solidFill>
            <a:srgbClr val="ECF6F7"/>
          </a:solidFill>
          <a:ln w="1397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" y="3945636"/>
            <a:ext cx="5382615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7240" y="4128516"/>
            <a:ext cx="420624" cy="42062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62456" y="4091940"/>
            <a:ext cx="4468215" cy="2153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F1535"/>
                </a:solidFill>
                <a:latin typeface="Segoe UI"/>
              </a:rPr>
              <a:t>Real-World Applications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6431" y="3945636"/>
            <a:ext cx="5382615" cy="2409444"/>
          </a:xfrm>
          <a:prstGeom prst="roundRect">
            <a:avLst/>
          </a:prstGeom>
          <a:solidFill>
            <a:srgbClr val="ECF6F7"/>
          </a:solidFill>
          <a:ln w="1397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6431" y="3945636"/>
            <a:ext cx="5382615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1023" y="4128516"/>
            <a:ext cx="420624" cy="420624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6239" y="4091940"/>
            <a:ext cx="4468215" cy="2153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F1535"/>
                </a:solidFill>
                <a:latin typeface="Segoe UI"/>
              </a:rPr>
              <a:t>Current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164592"/>
            <a:ext cx="1147846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What is Quantum Computing?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492240"/>
            <a:ext cx="853418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Segoe UI"/>
              </a:rPr>
              <a:t>The Rise of Quantum Computing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1005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Segoe UI"/>
              </a:rPr>
              <a:t>6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53312"/>
            <a:ext cx="5272887" cy="73152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44752"/>
            <a:ext cx="527288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D1E42"/>
                </a:solidFill>
                <a:latin typeface="Segoe UI"/>
              </a:rPr>
              <a:t>Priority Themes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75104"/>
            <a:ext cx="5272887" cy="4379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spcAft>
                <a:spcPts val="300"/>
              </a:spcAft>
            </a:pPr>
            <a:r>
              <a:rPr sz="1600" b="1">
                <a:solidFill>
                  <a:srgbClr val="009EA6"/>
                </a:solidFill>
                <a:latin typeface="Segoe UI"/>
              </a:rPr>
              <a:t>▸  </a:t>
            </a:r>
            <a:r>
              <a:rPr sz="1600" b="1">
                <a:solidFill>
                  <a:srgbClr val="0F1535"/>
                </a:solidFill>
                <a:latin typeface="Segoe UI"/>
              </a:rPr>
              <a:t>Uses qubits instead of classical bits</a:t>
            </a:r>
          </a:p>
          <a:p>
            <a:pPr>
              <a:lnSpc>
                <a:spcPct val="115000"/>
              </a:lnSpc>
              <a:spcBef>
                <a:spcPts val="1000"/>
              </a:spcBef>
              <a:spcAft>
                <a:spcPts val="300"/>
              </a:spcAft>
            </a:pPr>
            <a:r>
              <a:rPr sz="1600" b="1">
                <a:solidFill>
                  <a:srgbClr val="009EA6"/>
                </a:solidFill>
                <a:latin typeface="Segoe UI"/>
              </a:rPr>
              <a:t>▸  </a:t>
            </a:r>
            <a:r>
              <a:rPr sz="1600" b="1">
                <a:solidFill>
                  <a:srgbClr val="0F1535"/>
                </a:solidFill>
                <a:latin typeface="Segoe UI"/>
              </a:rPr>
              <a:t>Leverages quantum phenomena: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24447" y="1353312"/>
            <a:ext cx="5272887" cy="73152"/>
          </a:xfrm>
          <a:prstGeom prst="rect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4447" y="1444752"/>
            <a:ext cx="527288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D1E42"/>
                </a:solidFill>
                <a:latin typeface="Segoe UI"/>
              </a:rPr>
              <a:t>Implications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447" y="1975104"/>
            <a:ext cx="5272887" cy="4379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spcAft>
                <a:spcPts val="300"/>
              </a:spcAft>
            </a:pPr>
            <a:r>
              <a:rPr sz="1600" b="1">
                <a:solidFill>
                  <a:srgbClr val="009EA6"/>
                </a:solidFill>
                <a:latin typeface="Segoe UI"/>
              </a:rPr>
              <a:t>▸  </a:t>
            </a:r>
            <a:r>
              <a:rPr sz="1600" b="1">
                <a:solidFill>
                  <a:srgbClr val="0F1535"/>
                </a:solidFill>
                <a:latin typeface="Segoe UI"/>
              </a:rPr>
              <a:t>Superposition</a:t>
            </a:r>
          </a:p>
          <a:p>
            <a:pPr>
              <a:lnSpc>
                <a:spcPct val="115000"/>
              </a:lnSpc>
              <a:spcBef>
                <a:spcPts val="1000"/>
              </a:spcBef>
              <a:spcAft>
                <a:spcPts val="300"/>
              </a:spcAft>
            </a:pPr>
            <a:r>
              <a:rPr sz="1600" b="1">
                <a:solidFill>
                  <a:srgbClr val="009EA6"/>
                </a:solidFill>
                <a:latin typeface="Segoe UI"/>
              </a:rPr>
              <a:t>▸  </a:t>
            </a:r>
            <a:r>
              <a:rPr sz="1600" b="1">
                <a:solidFill>
                  <a:srgbClr val="0F1535"/>
                </a:solidFill>
                <a:latin typeface="Segoe UI"/>
              </a:rPr>
              <a:t>Entanglement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59271" y="1353312"/>
            <a:ext cx="27432" cy="5001768"/>
          </a:xfrm>
          <a:prstGeom prst="rect">
            <a:avLst/>
          </a:prstGeom>
          <a:solidFill>
            <a:srgbClr val="C1C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164592"/>
            <a:ext cx="1147846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Classical vs. Quantum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492240"/>
            <a:ext cx="853418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Segoe UI"/>
              </a:rPr>
              <a:t>The Rise of Quantum Computing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1005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Segoe UI"/>
              </a:rPr>
              <a:t>7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524347" cy="502920"/>
          </a:xfrm>
          <a:prstGeom prst="roundRect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Classical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93392"/>
            <a:ext cx="5524347" cy="4361688"/>
          </a:xfrm>
          <a:prstGeom prst="roundRect">
            <a:avLst/>
          </a:prstGeom>
          <a:solidFill>
            <a:srgbClr val="ECF6F7"/>
          </a:solidFill>
          <a:ln w="9525">
            <a:solidFill>
              <a:srgbClr val="009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91440" bIns="91440"/>
          <a:lstStyle/>
          <a:p>
            <a:pPr algn="ctr"/>
            <a:r>
              <a:rPr sz="1200">
                <a:solidFill>
                  <a:srgbClr val="37456A"/>
                </a:solidFill>
                <a:latin typeface="Segoe UI"/>
              </a:rPr>
              <a:t>▶  Basic unit: Bit (0 or 1)</a:t>
            </a:r>
          </a:p>
          <a:p>
            <a:r>
              <a:rPr sz="1200">
                <a:solidFill>
                  <a:srgbClr val="37456A"/>
                </a:solidFill>
                <a:latin typeface="Segoe UI"/>
              </a:rPr>
              <a:t>▶  Processing: Sequential</a:t>
            </a:r>
          </a:p>
          <a:p>
            <a:r>
              <a:rPr sz="1200">
                <a:solidFill>
                  <a:srgbClr val="37456A"/>
                </a:solidFill>
                <a:latin typeface="Segoe UI"/>
              </a:rPr>
              <a:t>▶  Logic gates: AND, OR, NOT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4427" y="1417320"/>
            <a:ext cx="5524347" cy="502920"/>
          </a:xfrm>
          <a:prstGeom prst="round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Quantum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4427" y="1993392"/>
            <a:ext cx="5524347" cy="4361688"/>
          </a:xfrm>
          <a:prstGeom prst="roundRect">
            <a:avLst/>
          </a:prstGeom>
          <a:solidFill>
            <a:srgbClr val="ECF6F7"/>
          </a:solidFill>
          <a:ln w="9525">
            <a:solidFill>
              <a:srgbClr val="0D1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91440" bIns="91440"/>
          <a:lstStyle/>
          <a:p>
            <a:pPr algn="ctr"/>
            <a:r>
              <a:rPr sz="1200">
                <a:solidFill>
                  <a:srgbClr val="37456A"/>
                </a:solidFill>
                <a:latin typeface="Segoe UI"/>
              </a:rPr>
              <a:t>▶  Basic unit: Qubit (0, 1, or both)</a:t>
            </a:r>
          </a:p>
          <a:p>
            <a:r>
              <a:rPr sz="1200">
                <a:solidFill>
                  <a:srgbClr val="37456A"/>
                </a:solidFill>
                <a:latin typeface="Segoe UI"/>
              </a:rPr>
              <a:t>▶  Processing: Parallel</a:t>
            </a:r>
          </a:p>
          <a:p>
            <a:r>
              <a:rPr sz="1200">
                <a:solidFill>
                  <a:srgbClr val="37456A"/>
                </a:solidFill>
                <a:latin typeface="Segoe UI"/>
              </a:rPr>
              <a:t>▶  Logic gates: Hadamard, CNOT, etc.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164592"/>
            <a:ext cx="1147846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Key Applications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492240"/>
            <a:ext cx="853418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Segoe UI"/>
              </a:rPr>
              <a:t>The Rise of Quantum Computing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1005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Segoe U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164592"/>
            <a:ext cx="1147846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Key Applications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492240"/>
            <a:ext cx="853418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Segoe UI"/>
              </a:rPr>
              <a:t>The Rise of Quantum Computing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1005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Segoe UI"/>
              </a:rPr>
              <a:t>9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1371600"/>
            <a:ext cx="5382615" cy="2409444"/>
          </a:xfrm>
          <a:prstGeom prst="roundRect">
            <a:avLst/>
          </a:prstGeom>
          <a:solidFill>
            <a:srgbClr val="ECF6F7"/>
          </a:solidFill>
          <a:ln w="13970">
            <a:solidFill>
              <a:srgbClr val="009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1371600"/>
            <a:ext cx="5382615" cy="91440"/>
          </a:xfrm>
          <a:prstGeom prst="rect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1554480"/>
            <a:ext cx="420624" cy="420624"/>
          </a:xfrm>
          <a:prstGeom prst="ellipse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62456" y="1517904"/>
            <a:ext cx="4468215" cy="2153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F1535"/>
                </a:solidFill>
                <a:latin typeface="Segoe UI"/>
              </a:rPr>
              <a:t>Cryptography – Breaking RSA encryption (Shor’s algorithm)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6431" y="1371600"/>
            <a:ext cx="5382615" cy="2409444"/>
          </a:xfrm>
          <a:prstGeom prst="roundRect">
            <a:avLst/>
          </a:prstGeom>
          <a:solidFill>
            <a:srgbClr val="ECF6F7"/>
          </a:solidFill>
          <a:ln w="13970">
            <a:solidFill>
              <a:srgbClr val="0D1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6431" y="1371600"/>
            <a:ext cx="5382615" cy="914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61023" y="1554480"/>
            <a:ext cx="420624" cy="420624"/>
          </a:xfrm>
          <a:prstGeom prst="ellipse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6239" y="1517904"/>
            <a:ext cx="4468215" cy="2153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F1535"/>
                </a:solidFill>
                <a:latin typeface="Segoe UI"/>
              </a:rPr>
              <a:t>Drug discovery – Simulating molecular structures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3945636"/>
            <a:ext cx="5382615" cy="2409444"/>
          </a:xfrm>
          <a:prstGeom prst="roundRect">
            <a:avLst/>
          </a:prstGeom>
          <a:solidFill>
            <a:srgbClr val="ECF6F7"/>
          </a:solidFill>
          <a:ln w="1397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" y="3945636"/>
            <a:ext cx="5382615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7240" y="4128516"/>
            <a:ext cx="420624" cy="42062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62456" y="4091940"/>
            <a:ext cx="4468215" cy="2153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F1535"/>
                </a:solidFill>
                <a:latin typeface="Segoe UI"/>
              </a:rPr>
              <a:t>Optimization – Logistics, finance, supply chains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6431" y="3945636"/>
            <a:ext cx="5382615" cy="2409444"/>
          </a:xfrm>
          <a:prstGeom prst="roundRect">
            <a:avLst/>
          </a:prstGeom>
          <a:solidFill>
            <a:srgbClr val="ECF6F7"/>
          </a:solidFill>
          <a:ln w="1397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6431" y="3945636"/>
            <a:ext cx="5382615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1023" y="4128516"/>
            <a:ext cx="420624" cy="420624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6239" y="4091940"/>
            <a:ext cx="4468215" cy="2153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F1535"/>
                </a:solidFill>
                <a:latin typeface="Segoe UI"/>
              </a:rPr>
              <a:t>AI/ML – Faster pattern recognition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164592"/>
            <a:ext cx="1147846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Current Challenges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492240"/>
            <a:ext cx="853418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Segoe UI"/>
              </a:rPr>
              <a:t>The Rise of Quantum Computing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1005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Segoe UI"/>
              </a:rPr>
              <a:t>10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53312"/>
            <a:ext cx="5272887" cy="73152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44752"/>
            <a:ext cx="527288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D1E42"/>
                </a:solidFill>
                <a:latin typeface="Segoe UI"/>
              </a:rPr>
              <a:t>Priority Themes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75104"/>
            <a:ext cx="5272887" cy="4379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spcAft>
                <a:spcPts val="300"/>
              </a:spcAft>
            </a:pPr>
            <a:r>
              <a:rPr sz="1600" b="1">
                <a:solidFill>
                  <a:srgbClr val="009EA6"/>
                </a:solidFill>
                <a:latin typeface="Segoe UI"/>
              </a:rPr>
              <a:t>▸  </a:t>
            </a:r>
            <a:r>
              <a:rPr sz="1600" b="1">
                <a:solidFill>
                  <a:srgbClr val="0F1535"/>
                </a:solidFill>
                <a:latin typeface="Segoe UI"/>
              </a:rPr>
              <a:t>⚠️ Decoherence – Qubits lose state quickly</a:t>
            </a:r>
          </a:p>
          <a:p>
            <a:pPr>
              <a:lnSpc>
                <a:spcPct val="115000"/>
              </a:lnSpc>
              <a:spcBef>
                <a:spcPts val="1000"/>
              </a:spcBef>
              <a:spcAft>
                <a:spcPts val="300"/>
              </a:spcAft>
            </a:pPr>
            <a:r>
              <a:rPr sz="1600" b="1">
                <a:solidFill>
                  <a:srgbClr val="009EA6"/>
                </a:solidFill>
                <a:latin typeface="Segoe UI"/>
              </a:rPr>
              <a:t>▸  </a:t>
            </a:r>
            <a:r>
              <a:rPr sz="1600" b="1">
                <a:solidFill>
                  <a:srgbClr val="0F1535"/>
                </a:solidFill>
                <a:latin typeface="Segoe UI"/>
              </a:rPr>
              <a:t>❄️ Extreme cooling required (near absolute zero)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24447" y="1353312"/>
            <a:ext cx="5272887" cy="73152"/>
          </a:xfrm>
          <a:prstGeom prst="rect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4447" y="1444752"/>
            <a:ext cx="527288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D1E42"/>
                </a:solidFill>
                <a:latin typeface="Segoe UI"/>
              </a:rPr>
              <a:t>Implications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447" y="1975104"/>
            <a:ext cx="5272887" cy="4379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spcAft>
                <a:spcPts val="300"/>
              </a:spcAft>
            </a:pPr>
            <a:r>
              <a:rPr sz="1600" b="1">
                <a:solidFill>
                  <a:srgbClr val="009EA6"/>
                </a:solidFill>
                <a:latin typeface="Segoe UI"/>
              </a:rPr>
              <a:t>▸  </a:t>
            </a:r>
            <a:r>
              <a:rPr sz="1600" b="1">
                <a:solidFill>
                  <a:srgbClr val="0F1535"/>
                </a:solidFill>
                <a:latin typeface="Segoe UI"/>
              </a:rPr>
              <a:t>🧠 Error correction is still immature</a:t>
            </a:r>
          </a:p>
          <a:p>
            <a:pPr>
              <a:lnSpc>
                <a:spcPct val="115000"/>
              </a:lnSpc>
              <a:spcBef>
                <a:spcPts val="1000"/>
              </a:spcBef>
              <a:spcAft>
                <a:spcPts val="300"/>
              </a:spcAft>
            </a:pPr>
            <a:r>
              <a:rPr sz="1600" b="1">
                <a:solidFill>
                  <a:srgbClr val="009EA6"/>
                </a:solidFill>
                <a:latin typeface="Segoe UI"/>
              </a:rPr>
              <a:t>▸  </a:t>
            </a:r>
            <a:r>
              <a:rPr sz="1600" b="1">
                <a:solidFill>
                  <a:srgbClr val="0F1535"/>
                </a:solidFill>
                <a:latin typeface="Segoe UI"/>
              </a:rPr>
              <a:t>💰 High cost of development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59271" y="1353312"/>
            <a:ext cx="27432" cy="5001768"/>
          </a:xfrm>
          <a:prstGeom prst="rect">
            <a:avLst/>
          </a:prstGeom>
          <a:solidFill>
            <a:srgbClr val="C1C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164592"/>
            <a:ext cx="1147846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The Road Ahead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492240"/>
            <a:ext cx="853418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Segoe UI"/>
              </a:rPr>
              <a:t>The Rise of Quantum Computing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1005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Segoe UI"/>
              </a:rPr>
              <a:t>11 / 12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85800" y="1463040"/>
          <a:ext cx="10820095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598932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738098"/>
                </a:solidFill>
                <a:latin typeface="Segoe UI"/>
              </a:rPr>
              <a:t>Chart generated from the source data to make the ranking easier to read.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6492240"/>
            <a:ext cx="853418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Segoe UI"/>
              </a:rPr>
              <a:t>The Rise of Quantum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1005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Segoe UI"/>
              </a:rPr>
              <a:t>12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164592"/>
            <a:ext cx="1147846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Key Takeaways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" y="6492240"/>
            <a:ext cx="853418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Segoe UI"/>
              </a:rPr>
              <a:t>The Rise of Quantum Computing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1005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Segoe U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